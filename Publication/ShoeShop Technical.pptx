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5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-1224" y="-5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306657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ED153-8E02-4B01-AF6F-42D40F82AF5C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5BBA1-2E86-4A36-A912-4880EBFEF23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ED153-8E02-4B01-AF6F-42D40F82AF5C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5BBA1-2E86-4A36-A912-4880EBFEF23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ED153-8E02-4B01-AF6F-42D40F82AF5C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5BBA1-2E86-4A36-A912-4880EBFEF23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ED153-8E02-4B01-AF6F-42D40F82AF5C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5BBA1-2E86-4A36-A912-4880EBFEF23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30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30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ED153-8E02-4B01-AF6F-42D40F82AF5C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5BBA1-2E86-4A36-A912-4880EBFEF23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ED153-8E02-4B01-AF6F-42D40F82AF5C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5BBA1-2E86-4A36-A912-4880EBFEF23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ED153-8E02-4B01-AF6F-42D40F82AF5C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5BBA1-2E86-4A36-A912-4880EBFEF23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5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90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5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ED153-8E02-4B01-AF6F-42D40F82AF5C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5BBA1-2E86-4A36-A912-4880EBFEF23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ED153-8E02-4B01-AF6F-42D40F82AF5C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5BBA1-2E86-4A36-A912-4880EBFEF23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ED153-8E02-4B01-AF6F-42D40F82AF5C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5BBA1-2E86-4A36-A912-4880EBFEF23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ED153-8E02-4B01-AF6F-42D40F82AF5C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5BBA1-2E86-4A36-A912-4880EBFEF23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ED153-8E02-4B01-AF6F-42D40F82AF5C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5BBA1-2E86-4A36-A912-4880EBFEF239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4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19045" y="1939379"/>
            <a:ext cx="2305761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 err="1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Shoe</a:t>
            </a:r>
            <a:r>
              <a:rPr lang="en-US" sz="3600" b="1" dirty="0" err="1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125757" y="2640359"/>
            <a:ext cx="289248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и реализация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060179" y="3265140"/>
            <a:ext cx="302349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 + Jetpack Compose + Supabase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751497" y="4587240"/>
            <a:ext cx="164085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разработчиков • 2025</a:t>
            </a:r>
            <a:endParaRPr lang="en-US" sz="105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333500" y="-10329"/>
            <a:ext cx="666920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dirty="0">
                <a:solidFill>
                  <a:schemeClr val="bg1"/>
                </a:solidFill>
                <a:latin typeface="Arial" pitchFamily="34" charset="0"/>
                <a:ea typeface="Times New Roman" panose="02020603050405020304" pitchFamily="18" charset="0"/>
                <a:cs typeface="Arial" pitchFamily="34" charset="0"/>
              </a:rPr>
              <a:t>Министерство образования и науки Нижегородской области</a:t>
            </a:r>
            <a:endParaRPr lang="ru-RU" sz="1600" dirty="0">
              <a:solidFill>
                <a:schemeClr val="bg1"/>
              </a:solidFill>
              <a:latin typeface="Arial" pitchFamily="34" charset="0"/>
              <a:ea typeface="Times New Roman" panose="02020603050405020304" pitchFamily="18" charset="0"/>
              <a:cs typeface="Arial" pitchFamily="34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chemeClr val="bg1"/>
                </a:solidFill>
                <a:latin typeface="Arial" pitchFamily="34" charset="0"/>
                <a:ea typeface="Times New Roman" panose="02020603050405020304" pitchFamily="18" charset="0"/>
                <a:cs typeface="Arial" pitchFamily="34" charset="0"/>
              </a:rPr>
              <a:t>Государственное бюджетное профессиональное </a:t>
            </a:r>
            <a:br>
              <a:rPr lang="ru-RU" dirty="0">
                <a:solidFill>
                  <a:schemeClr val="bg1"/>
                </a:solidFill>
                <a:latin typeface="Arial" pitchFamily="34" charset="0"/>
                <a:ea typeface="Times New Roman" panose="02020603050405020304" pitchFamily="18" charset="0"/>
                <a:cs typeface="Arial" pitchFamily="34" charset="0"/>
              </a:rPr>
            </a:br>
            <a:r>
              <a:rPr lang="ru-RU" dirty="0">
                <a:solidFill>
                  <a:schemeClr val="bg1"/>
                </a:solidFill>
                <a:latin typeface="Arial" pitchFamily="34" charset="0"/>
                <a:ea typeface="Times New Roman" panose="02020603050405020304" pitchFamily="18" charset="0"/>
                <a:cs typeface="Arial" pitchFamily="34" charset="0"/>
              </a:rPr>
              <a:t>образовательное учреждение</a:t>
            </a:r>
            <a:endParaRPr lang="ru-RU" sz="1600" dirty="0">
              <a:solidFill>
                <a:schemeClr val="bg1"/>
              </a:solidFill>
              <a:latin typeface="Arial" pitchFamily="34" charset="0"/>
              <a:ea typeface="Times New Roman" panose="02020603050405020304" pitchFamily="18" charset="0"/>
              <a:cs typeface="Arial" pitchFamily="34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chemeClr val="bg1"/>
                </a:solidFill>
                <a:latin typeface="Arial" pitchFamily="34" charset="0"/>
                <a:ea typeface="Times New Roman" panose="02020603050405020304" pitchFamily="18" charset="0"/>
                <a:cs typeface="Arial" pitchFamily="34" charset="0"/>
              </a:rPr>
              <a:t> «Заволжский автомоторный техникум»</a:t>
            </a:r>
            <a:endParaRPr lang="ru-RU" sz="1600" dirty="0">
              <a:solidFill>
                <a:schemeClr val="bg1"/>
              </a:solidFill>
              <a:latin typeface="Arial" pitchFamily="34" charset="0"/>
              <a:ea typeface="Times New Roman" panose="02020603050405020304" pitchFamily="18" charset="0"/>
              <a:cs typeface="Arial" pitchFamily="34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chemeClr val="bg1"/>
                </a:solidFill>
                <a:latin typeface="Arial" pitchFamily="34" charset="0"/>
                <a:ea typeface="Times New Roman" panose="02020603050405020304" pitchFamily="18" charset="0"/>
                <a:cs typeface="Arial" pitchFamily="34" charset="0"/>
              </a:rPr>
              <a:t>(ГБПОУ ЗАМТ)</a:t>
            </a:r>
            <a:endParaRPr lang="ru-RU" sz="1600" dirty="0">
              <a:solidFill>
                <a:schemeClr val="bg1"/>
              </a:solidFill>
              <a:latin typeface="Arial" pitchFamily="34" charset="0"/>
              <a:ea typeface="Times New Roman" panose="02020603050405020304" pitchFamily="18" charset="0"/>
              <a:cs typeface="Arial" pitchFamily="3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23807" y="3764280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ru-RU" sz="1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Выполнил: Муравьев Максим Алексеевич</a:t>
            </a:r>
          </a:p>
          <a:p>
            <a:r>
              <a:rPr lang="ru-RU" sz="1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                     Студент группы ИС-22А</a:t>
            </a:r>
            <a:endParaRPr lang="ru-RU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ru-RU" sz="2700" b="1" dirty="0" smtClean="0">
                <a:solidFill>
                  <a:srgbClr val="0284C7"/>
                </a:solidFill>
                <a:latin typeface="Arial" pitchFamily="34" charset="0"/>
                <a:cs typeface="Arial" pitchFamily="34" charset="-120"/>
              </a:rPr>
              <a:t>Диаграмма вариантов использования</a:t>
            </a:r>
            <a:endParaRPr lang="en-US" sz="2700" dirty="0"/>
          </a:p>
        </p:txBody>
      </p:sp>
      <p:pic>
        <p:nvPicPr>
          <p:cNvPr id="1026" name="Picture 2" descr="C:\Users\android242\Downloads\practik.drawio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71270" y="1316355"/>
            <a:ext cx="6677025" cy="34480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900" y="1363861"/>
            <a:ext cx="2260550" cy="3055739"/>
          </a:xfrm>
          <a:prstGeom prst="roundRect">
            <a:avLst>
              <a:gd name="adj" fmla="val 32360"/>
            </a:avLst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41650" y="1363861"/>
            <a:ext cx="2260550" cy="3055739"/>
          </a:xfrm>
          <a:prstGeom prst="roundRect">
            <a:avLst>
              <a:gd name="adj" fmla="val 32360"/>
            </a:avLst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159401" y="1363861"/>
            <a:ext cx="2260550" cy="3055739"/>
          </a:xfrm>
          <a:prstGeom prst="roundRect">
            <a:avLst>
              <a:gd name="adj" fmla="val 32360"/>
            </a:avLst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MVVM + Clean Architecture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71550" y="1611511"/>
            <a:ext cx="180055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ui слой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71550" y="1939082"/>
            <a:ext cx="1765250" cy="543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Jetpack Compose, ViewModel, StateFlow, компоненты и навигация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3689300" y="1611511"/>
            <a:ext cx="180055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data слой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89300" y="1939082"/>
            <a:ext cx="1765250" cy="362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Retrofit, Repository, модели API, SessionManager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6407051" y="1611511"/>
            <a:ext cx="180055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util слой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7051" y="1939082"/>
            <a:ext cx="1765250" cy="362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Конфигурации, ImageConfig, Preferences</a:t>
            </a:r>
            <a:endParaRPr lang="en-US" sz="10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Стек технологий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3505200" cy="133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</a:t>
            </a: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безопасный язык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Jetpack Compose</a:t>
            </a: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декларативный UI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Retrofit</a:t>
            </a: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HTTP-клиент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PostgreSQL + API</a:t>
            </a:r>
            <a:endParaRPr lang="en-US" sz="1080" dirty="0"/>
          </a:p>
        </p:txBody>
      </p:sp>
      <p:sp>
        <p:nvSpPr>
          <p:cNvPr id="4" name="Text 2"/>
          <p:cNvSpPr/>
          <p:nvPr/>
        </p:nvSpPr>
        <p:spPr>
          <a:xfrm>
            <a:off x="5029200" y="1127760"/>
            <a:ext cx="3505200" cy="133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Hilt</a:t>
            </a: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Dependency Injection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OkHttp</a:t>
            </a: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интерцепторы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 Flow</a:t>
            </a: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реактивность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3</a:t>
            </a: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r>
              <a:rPr lang="en-US" sz="1080" dirty="0" err="1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</a:t>
            </a:r>
            <a:endParaRPr lang="en-US" sz="1080" dirty="0" smtClean="0">
              <a:solidFill>
                <a:srgbClr val="475569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b="1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Coil</a:t>
            </a:r>
            <a:r>
              <a:rPr lang="en-US" sz="1080" dirty="0" smtClean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 – </a:t>
            </a:r>
            <a:r>
              <a:rPr lang="ru-RU" sz="1080" dirty="0" smtClean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загрузка картинок</a:t>
            </a:r>
            <a:endParaRPr lang="en-US" sz="108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900" y="1363861"/>
            <a:ext cx="2260550" cy="1384548"/>
          </a:xfrm>
          <a:prstGeom prst="roundRect">
            <a:avLst>
              <a:gd name="adj" fmla="val 52835"/>
            </a:avLst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41650" y="1363861"/>
            <a:ext cx="2260550" cy="1384548"/>
          </a:xfrm>
          <a:prstGeom prst="roundRect">
            <a:avLst>
              <a:gd name="adj" fmla="val 52835"/>
            </a:avLst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159401" y="1363861"/>
            <a:ext cx="2260550" cy="1384548"/>
          </a:xfrm>
          <a:prstGeom prst="roundRect">
            <a:avLst>
              <a:gd name="adj" fmla="val 52835"/>
            </a:avLst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23900" y="3205609"/>
            <a:ext cx="7696200" cy="1213991"/>
          </a:xfrm>
          <a:prstGeom prst="roundRect">
            <a:avLst>
              <a:gd name="adj" fmla="val 60257"/>
            </a:avLst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функции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71550" y="1611511"/>
            <a:ext cx="180055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 Корзина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71550" y="1900982"/>
            <a:ext cx="1765250" cy="341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CartViewModel синхронизирует товары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3689300" y="1611511"/>
            <a:ext cx="180055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❤️ Избранное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89300" y="1900982"/>
            <a:ext cx="1765250" cy="341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Сохранение интересующих товаров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6407051" y="1611511"/>
            <a:ext cx="180055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Заказы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7051" y="1900982"/>
            <a:ext cx="1765250" cy="341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OrderRepository создаёт и отслеживает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971550" y="3453259"/>
            <a:ext cx="734491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Авторизация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71550" y="3742730"/>
            <a:ext cx="7344918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SessionManager + </a:t>
            </a:r>
            <a:r>
              <a:rPr lang="en-US" sz="96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JWT-</a:t>
            </a:r>
            <a:r>
              <a:rPr lang="en-US" sz="960" dirty="0" err="1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токены</a:t>
            </a:r>
            <a:r>
              <a:rPr lang="ru-RU" sz="96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r>
              <a:rPr lang="en-US" sz="960" dirty="0" err="1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SignInViewModel</a:t>
            </a:r>
            <a:endParaRPr lang="en-US" sz="96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20315" y="609600"/>
            <a:ext cx="510337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Поток данных (Unidirectional)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30738" y="1298823"/>
            <a:ext cx="1482525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80"/>
              </a:lnSpc>
              <a:buNone/>
            </a:pPr>
            <a:r>
              <a:rPr lang="en-US" sz="114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UI Event</a:t>
            </a:r>
            <a:endParaRPr lang="en-US" sz="1140" dirty="0"/>
          </a:p>
        </p:txBody>
      </p:sp>
      <p:sp>
        <p:nvSpPr>
          <p:cNvPr id="4" name="Text 2"/>
          <p:cNvSpPr/>
          <p:nvPr/>
        </p:nvSpPr>
        <p:spPr>
          <a:xfrm>
            <a:off x="3830738" y="1588443"/>
            <a:ext cx="1482525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80"/>
              </a:lnSpc>
              <a:buNone/>
            </a:pPr>
            <a:r>
              <a:rPr lang="en-US" sz="114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140" dirty="0"/>
          </a:p>
        </p:txBody>
      </p:sp>
      <p:sp>
        <p:nvSpPr>
          <p:cNvPr id="5" name="Text 3"/>
          <p:cNvSpPr/>
          <p:nvPr/>
        </p:nvSpPr>
        <p:spPr>
          <a:xfrm>
            <a:off x="3830738" y="1878062"/>
            <a:ext cx="1482525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80"/>
              </a:lnSpc>
              <a:buNone/>
            </a:pPr>
            <a:r>
              <a:rPr lang="en-US" sz="114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ViewModel.onEvent()</a:t>
            </a:r>
            <a:endParaRPr lang="en-US" sz="1140" dirty="0"/>
          </a:p>
        </p:txBody>
      </p:sp>
      <p:sp>
        <p:nvSpPr>
          <p:cNvPr id="6" name="Text 4"/>
          <p:cNvSpPr/>
          <p:nvPr/>
        </p:nvSpPr>
        <p:spPr>
          <a:xfrm>
            <a:off x="3830738" y="2167682"/>
            <a:ext cx="1482525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80"/>
              </a:lnSpc>
              <a:buNone/>
            </a:pPr>
            <a:r>
              <a:rPr lang="en-US" sz="114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3830738" y="2457301"/>
            <a:ext cx="1482525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80"/>
              </a:lnSpc>
              <a:buNone/>
            </a:pPr>
            <a:r>
              <a:rPr lang="en-US" sz="114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Repository.update()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3830738" y="2746921"/>
            <a:ext cx="1482525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80"/>
              </a:lnSpc>
              <a:buNone/>
            </a:pPr>
            <a:r>
              <a:rPr lang="en-US" sz="114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3830738" y="3036540"/>
            <a:ext cx="1482525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80"/>
              </a:lnSpc>
              <a:buNone/>
            </a:pPr>
            <a:r>
              <a:rPr lang="en-US" sz="114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Supabase API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3830738" y="3326160"/>
            <a:ext cx="1482525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80"/>
              </a:lnSpc>
              <a:buNone/>
            </a:pPr>
            <a:r>
              <a:rPr lang="en-US" sz="114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3830738" y="3615779"/>
            <a:ext cx="1482525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80"/>
              </a:lnSpc>
              <a:buNone/>
            </a:pPr>
            <a:r>
              <a:rPr lang="en-US" sz="114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StateFlow.update()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3830738" y="3905399"/>
            <a:ext cx="1482525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80"/>
              </a:lnSpc>
              <a:buNone/>
            </a:pPr>
            <a:r>
              <a:rPr lang="en-US" sz="114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3830738" y="4195018"/>
            <a:ext cx="1482525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80"/>
              </a:lnSpc>
              <a:buNone/>
            </a:pPr>
            <a:r>
              <a:rPr lang="en-US" sz="114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UI Recompose</a:t>
            </a:r>
            <a:endParaRPr lang="en-US" sz="114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7937564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Реальная структура проекта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361"/>
            <a:ext cx="7937564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ui/ слой (Presentation)</a:t>
            </a:r>
            <a:endParaRPr lang="en-US" sz="960" dirty="0"/>
          </a:p>
        </p:txBody>
      </p:sp>
      <p:sp>
        <p:nvSpPr>
          <p:cNvPr id="4" name="Text 2"/>
          <p:cNvSpPr/>
          <p:nvPr/>
        </p:nvSpPr>
        <p:spPr>
          <a:xfrm>
            <a:off x="762000" y="1404789"/>
            <a:ext cx="7629525" cy="1220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28"/>
              </a:lnSpc>
              <a:buSzPct val="100000"/>
              <a:buChar char="•"/>
            </a:pPr>
            <a:r>
              <a:rPr lang="en-US" sz="9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screens/</a:t>
            </a:r>
            <a:r>
              <a:rPr lang="en-US" sz="9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HomeScreen, CartScreen, ProfileScreen</a:t>
            </a:r>
            <a:endParaRPr lang="en-US" sz="960" dirty="0"/>
          </a:p>
          <a:p>
            <a:pPr marL="342900" indent="-342900">
              <a:lnSpc>
                <a:spcPts val="1728"/>
              </a:lnSpc>
              <a:buSzPct val="100000"/>
              <a:buChar char="•"/>
            </a:pPr>
            <a:r>
              <a:rPr lang="en-US" sz="9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viewmodel/</a:t>
            </a:r>
            <a:r>
              <a:rPr lang="en-US" sz="9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HomeViewModel, CartViewModel и т.д.</a:t>
            </a:r>
            <a:endParaRPr lang="en-US" sz="960" dirty="0"/>
          </a:p>
          <a:p>
            <a:pPr marL="342900" indent="-342900">
              <a:lnSpc>
                <a:spcPts val="1728"/>
              </a:lnSpc>
              <a:buSzPct val="100000"/>
              <a:buChar char="•"/>
            </a:pPr>
            <a:r>
              <a:rPr lang="en-US" sz="9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components/</a:t>
            </a:r>
            <a:r>
              <a:rPr lang="en-US" sz="9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ProductCard, ProductImage, кнопки</a:t>
            </a:r>
            <a:endParaRPr lang="en-US" sz="960" dirty="0"/>
          </a:p>
          <a:p>
            <a:pPr marL="342900" indent="-342900">
              <a:lnSpc>
                <a:spcPts val="1728"/>
              </a:lnSpc>
              <a:buSzPct val="100000"/>
              <a:buChar char="•"/>
            </a:pPr>
            <a:r>
              <a:rPr lang="en-US" sz="9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theme/</a:t>
            </a:r>
            <a:r>
              <a:rPr lang="en-US" sz="9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цвета, типографика, Material 3</a:t>
            </a:r>
            <a:endParaRPr lang="en-US" sz="960" dirty="0"/>
          </a:p>
        </p:txBody>
      </p:sp>
      <p:sp>
        <p:nvSpPr>
          <p:cNvPr id="5" name="Text 3"/>
          <p:cNvSpPr/>
          <p:nvPr/>
        </p:nvSpPr>
        <p:spPr>
          <a:xfrm>
            <a:off x="609600" y="2454623"/>
            <a:ext cx="7937564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data/ слой (Data)</a:t>
            </a:r>
            <a:endParaRPr lang="en-US" sz="960" dirty="0"/>
          </a:p>
        </p:txBody>
      </p:sp>
      <p:sp>
        <p:nvSpPr>
          <p:cNvPr id="6" name="Text 4"/>
          <p:cNvSpPr/>
          <p:nvPr/>
        </p:nvSpPr>
        <p:spPr>
          <a:xfrm>
            <a:off x="762000" y="2686051"/>
            <a:ext cx="7629525" cy="1554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28"/>
              </a:lnSpc>
              <a:buSzPct val="100000"/>
              <a:buChar char="•"/>
            </a:pPr>
            <a:r>
              <a:rPr lang="en-US" sz="9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service/</a:t>
            </a:r>
            <a:r>
              <a:rPr lang="en-US" sz="9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Retrofit API interfaces (ProductsApi, OrdersApi)</a:t>
            </a:r>
            <a:endParaRPr lang="en-US" sz="960" dirty="0"/>
          </a:p>
          <a:p>
            <a:pPr marL="342900" indent="-342900">
              <a:lnSpc>
                <a:spcPts val="1728"/>
              </a:lnSpc>
              <a:buSzPct val="100000"/>
              <a:buChar char="•"/>
            </a:pPr>
            <a:r>
              <a:rPr lang="en-US" sz="9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repository/</a:t>
            </a:r>
            <a:r>
              <a:rPr lang="en-US" sz="9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репозитории с бизнес-логикой</a:t>
            </a:r>
            <a:endParaRPr lang="en-US" sz="960" dirty="0"/>
          </a:p>
          <a:p>
            <a:pPr marL="342900" indent="-342900">
              <a:lnSpc>
                <a:spcPts val="1728"/>
              </a:lnSpc>
              <a:buSzPct val="100000"/>
              <a:buChar char="•"/>
            </a:pPr>
            <a:r>
              <a:rPr lang="en-US" sz="9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model/</a:t>
            </a:r>
            <a:r>
              <a:rPr lang="en-US" sz="9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DTO для API (ProductResponse, OrderDto)</a:t>
            </a:r>
            <a:endParaRPr lang="en-US" sz="960" dirty="0"/>
          </a:p>
          <a:p>
            <a:pPr marL="342900" indent="-342900">
              <a:lnSpc>
                <a:spcPts val="1728"/>
              </a:lnSpc>
              <a:buSzPct val="100000"/>
              <a:buChar char="•"/>
            </a:pPr>
            <a:r>
              <a:rPr lang="en-US" sz="9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RetrofitInstance.kt</a:t>
            </a:r>
            <a:r>
              <a:rPr lang="en-US" sz="9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конфиг Retrofit и OkHttp</a:t>
            </a:r>
            <a:endParaRPr lang="en-US" sz="960" dirty="0"/>
          </a:p>
          <a:p>
            <a:pPr marL="342900" indent="-342900">
              <a:lnSpc>
                <a:spcPts val="1728"/>
              </a:lnSpc>
              <a:buSzPct val="100000"/>
              <a:buChar char="•"/>
            </a:pPr>
            <a:r>
              <a:rPr lang="en-US" sz="9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SessionManager.kt</a:t>
            </a:r>
            <a:r>
              <a:rPr lang="en-US" sz="9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управление JWT и сессией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603218" y="3884860"/>
            <a:ext cx="7937564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util/ слой (Utilities)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755618" y="4116288"/>
            <a:ext cx="7629525" cy="553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28"/>
              </a:lnSpc>
              <a:buSzPct val="100000"/>
              <a:buChar char="•"/>
            </a:pPr>
            <a:r>
              <a:rPr lang="en-US" sz="9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ImageConfig.kt</a:t>
            </a:r>
            <a:r>
              <a:rPr lang="en-US" sz="9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конфиг картинок Supabase Storage</a:t>
            </a:r>
            <a:endParaRPr lang="en-US" sz="960" dirty="0"/>
          </a:p>
          <a:p>
            <a:pPr marL="342900" indent="-342900">
              <a:lnSpc>
                <a:spcPts val="1728"/>
              </a:lnSpc>
              <a:buSzPct val="100000"/>
              <a:buChar char="•"/>
            </a:pPr>
            <a:r>
              <a:rPr lang="en-US" sz="9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OnboardingPrefs.kt, RecoveryPrefs.kt</a:t>
            </a:r>
            <a:r>
              <a:rPr lang="en-US" sz="9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настройки через SharedPreferences</a:t>
            </a:r>
            <a:endParaRPr lang="en-US" sz="96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930747"/>
            <a:ext cx="7924800" cy="554236"/>
          </a:xfrm>
          <a:prstGeom prst="roundRect">
            <a:avLst>
              <a:gd name="adj" fmla="val 65994"/>
            </a:avLst>
          </a:prstGeom>
          <a:solidFill>
            <a:srgbClr val="DBEAF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561183"/>
            <a:ext cx="7924800" cy="554236"/>
          </a:xfrm>
          <a:prstGeom prst="roundRect">
            <a:avLst>
              <a:gd name="adj" fmla="val 65994"/>
            </a:avLst>
          </a:prstGeom>
          <a:solidFill>
            <a:srgbClr val="DBEAF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Решённые проблемы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39080" y="2022128"/>
            <a:ext cx="7858018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b="1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Картинки с цветовыми суффиксами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739080" y="2223046"/>
            <a:ext cx="7858018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ProductImage компонент ищет по UUID, util/ImageConfig конфигурирует хранилище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739080" y="2652564"/>
            <a:ext cx="7858018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b="1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Синхронизация корзины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739080" y="2853482"/>
            <a:ext cx="7858018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HomeViewModel.refreshCartFlags() обновляет иконку при изменении CartScreen</a:t>
            </a:r>
            <a:endParaRPr lang="en-US" sz="960" dirty="0"/>
          </a:p>
        </p:txBody>
      </p:sp>
      <p:sp>
        <p:nvSpPr>
          <p:cNvPr id="10" name="Text 1"/>
          <p:cNvSpPr/>
          <p:nvPr/>
        </p:nvSpPr>
        <p:spPr>
          <a:xfrm>
            <a:off x="609600" y="3176439"/>
            <a:ext cx="7924800" cy="554236"/>
          </a:xfrm>
          <a:prstGeom prst="roundRect">
            <a:avLst>
              <a:gd name="adj" fmla="val 65994"/>
            </a:avLst>
          </a:prstGeom>
          <a:solidFill>
            <a:srgbClr val="DBEAF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739080" y="3267820"/>
            <a:ext cx="7858018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b="1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r>
              <a:rPr lang="en-US" sz="960" b="1" dirty="0" err="1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Синхронизация</a:t>
            </a:r>
            <a:r>
              <a:rPr lang="en-US" sz="960" b="1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960" b="1" dirty="0" smtClean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избранного</a:t>
            </a:r>
            <a:endParaRPr lang="en-US" sz="960" dirty="0"/>
          </a:p>
        </p:txBody>
      </p:sp>
      <p:sp>
        <p:nvSpPr>
          <p:cNvPr id="12" name="Text 7"/>
          <p:cNvSpPr/>
          <p:nvPr/>
        </p:nvSpPr>
        <p:spPr>
          <a:xfrm>
            <a:off x="739080" y="3468738"/>
            <a:ext cx="7858018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44"/>
              </a:lnSpc>
            </a:pPr>
            <a:r>
              <a:rPr lang="en-US" sz="960" dirty="0" err="1" smtClean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HomeViewModel.toggleFavorite</a:t>
            </a:r>
            <a:r>
              <a:rPr lang="en-US" sz="960" dirty="0" smtClean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() </a:t>
            </a:r>
            <a:r>
              <a:rPr lang="en-US" sz="96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обновляет иконку при </a:t>
            </a:r>
            <a:r>
              <a:rPr lang="en-US" sz="960" dirty="0" err="1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изменении</a:t>
            </a:r>
            <a:r>
              <a:rPr lang="en-US" sz="96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60" dirty="0" err="1" smtClean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FavoriteScreen</a:t>
            </a:r>
            <a:endParaRPr lang="en-US" sz="96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84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19045" y="1939379"/>
            <a:ext cx="2305761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 err="1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Shoe</a:t>
            </a:r>
            <a:r>
              <a:rPr lang="en-US" sz="3600" b="1" dirty="0" err="1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125757" y="2640359"/>
            <a:ext cx="289248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и реализация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060179" y="3265140"/>
            <a:ext cx="302349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 + Jetpack Compose + Supabase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751497" y="4587240"/>
            <a:ext cx="164085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разработчиков • 2025</a:t>
            </a:r>
            <a:endParaRPr lang="en-US" sz="105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333500" y="-10329"/>
            <a:ext cx="666920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dirty="0">
                <a:solidFill>
                  <a:schemeClr val="bg1"/>
                </a:solidFill>
                <a:latin typeface="Arial" pitchFamily="34" charset="0"/>
                <a:ea typeface="Times New Roman" panose="02020603050405020304" pitchFamily="18" charset="0"/>
                <a:cs typeface="Arial" pitchFamily="34" charset="0"/>
              </a:rPr>
              <a:t>Министерство образования и науки Нижегородской области</a:t>
            </a:r>
            <a:endParaRPr lang="ru-RU" sz="1600" dirty="0">
              <a:solidFill>
                <a:schemeClr val="bg1"/>
              </a:solidFill>
              <a:latin typeface="Arial" pitchFamily="34" charset="0"/>
              <a:ea typeface="Times New Roman" panose="02020603050405020304" pitchFamily="18" charset="0"/>
              <a:cs typeface="Arial" pitchFamily="34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chemeClr val="bg1"/>
                </a:solidFill>
                <a:latin typeface="Arial" pitchFamily="34" charset="0"/>
                <a:ea typeface="Times New Roman" panose="02020603050405020304" pitchFamily="18" charset="0"/>
                <a:cs typeface="Arial" pitchFamily="34" charset="0"/>
              </a:rPr>
              <a:t>Государственное бюджетное профессиональное </a:t>
            </a:r>
            <a:br>
              <a:rPr lang="ru-RU" dirty="0">
                <a:solidFill>
                  <a:schemeClr val="bg1"/>
                </a:solidFill>
                <a:latin typeface="Arial" pitchFamily="34" charset="0"/>
                <a:ea typeface="Times New Roman" panose="02020603050405020304" pitchFamily="18" charset="0"/>
                <a:cs typeface="Arial" pitchFamily="34" charset="0"/>
              </a:rPr>
            </a:br>
            <a:r>
              <a:rPr lang="ru-RU" dirty="0">
                <a:solidFill>
                  <a:schemeClr val="bg1"/>
                </a:solidFill>
                <a:latin typeface="Arial" pitchFamily="34" charset="0"/>
                <a:ea typeface="Times New Roman" panose="02020603050405020304" pitchFamily="18" charset="0"/>
                <a:cs typeface="Arial" pitchFamily="34" charset="0"/>
              </a:rPr>
              <a:t>образовательное учреждение</a:t>
            </a:r>
            <a:endParaRPr lang="ru-RU" sz="1600" dirty="0">
              <a:solidFill>
                <a:schemeClr val="bg1"/>
              </a:solidFill>
              <a:latin typeface="Arial" pitchFamily="34" charset="0"/>
              <a:ea typeface="Times New Roman" panose="02020603050405020304" pitchFamily="18" charset="0"/>
              <a:cs typeface="Arial" pitchFamily="34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chemeClr val="bg1"/>
                </a:solidFill>
                <a:latin typeface="Arial" pitchFamily="34" charset="0"/>
                <a:ea typeface="Times New Roman" panose="02020603050405020304" pitchFamily="18" charset="0"/>
                <a:cs typeface="Arial" pitchFamily="34" charset="0"/>
              </a:rPr>
              <a:t> «Заволжский автомоторный техникум»</a:t>
            </a:r>
            <a:endParaRPr lang="ru-RU" sz="1600" dirty="0">
              <a:solidFill>
                <a:schemeClr val="bg1"/>
              </a:solidFill>
              <a:latin typeface="Arial" pitchFamily="34" charset="0"/>
              <a:ea typeface="Times New Roman" panose="02020603050405020304" pitchFamily="18" charset="0"/>
              <a:cs typeface="Arial" pitchFamily="34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chemeClr val="bg1"/>
                </a:solidFill>
                <a:latin typeface="Arial" pitchFamily="34" charset="0"/>
                <a:ea typeface="Times New Roman" panose="02020603050405020304" pitchFamily="18" charset="0"/>
                <a:cs typeface="Arial" pitchFamily="34" charset="0"/>
              </a:rPr>
              <a:t>(ГБПОУ ЗАМТ)</a:t>
            </a:r>
            <a:endParaRPr lang="ru-RU" sz="1600" dirty="0">
              <a:solidFill>
                <a:schemeClr val="bg1"/>
              </a:solidFill>
              <a:latin typeface="Arial" pitchFamily="34" charset="0"/>
              <a:ea typeface="Times New Roman" panose="02020603050405020304" pitchFamily="18" charset="0"/>
              <a:cs typeface="Arial" pitchFamily="3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23807" y="3764280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ru-RU" sz="1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Выполнил: Муравьев Максим Алексеевич</a:t>
            </a:r>
          </a:p>
          <a:p>
            <a:r>
              <a:rPr lang="ru-RU" sz="1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                     Студент группы ИС-22А</a:t>
            </a:r>
            <a:endParaRPr lang="ru-RU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</TotalTime>
  <Words>347</Words>
  <Application>Microsoft Office PowerPoint</Application>
  <PresentationFormat>Экран (16:9)</PresentationFormat>
  <Paragraphs>90</Paragraphs>
  <Slides>9</Slides>
  <Notes>9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Тема Office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</vt:vector>
  </TitlesOfParts>
  <Company>Perplexity AI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android242</cp:lastModifiedBy>
  <cp:revision>13</cp:revision>
  <dcterms:created xsi:type="dcterms:W3CDTF">2025-12-19T20:07:53Z</dcterms:created>
  <dcterms:modified xsi:type="dcterms:W3CDTF">2025-12-20T08:20:47Z</dcterms:modified>
</cp:coreProperties>
</file>